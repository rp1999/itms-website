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World Bold" charset="1" panose="020B0800040000020004"/>
      <p:regular r:id="rId15"/>
    </p:embeddedFont>
    <p:embeddedFont>
      <p:font typeface="Atkinson Hyperlegible" charset="1" panose="00000000000000000000"/>
      <p:regular r:id="rId16"/>
    </p:embeddedFont>
    <p:embeddedFont>
      <p:font typeface="Raleway" charset="1" panose="00000000000000000000"/>
      <p:regular r:id="rId17"/>
    </p:embeddedFont>
    <p:embeddedFont>
      <p:font typeface="Raleway Bold" charset="1" panose="00000000000000000000"/>
      <p:regular r:id="rId18"/>
    </p:embeddedFont>
    <p:embeddedFont>
      <p:font typeface="Prompt" charset="1" panose="00000500000000000000"/>
      <p:regular r:id="rId19"/>
    </p:embeddedFont>
    <p:embeddedFont>
      <p:font typeface="Prompt Semi-Bold" charset="1" panose="00000700000000000000"/>
      <p:regular r:id="rId20"/>
    </p:embeddedFont>
    <p:embeddedFont>
      <p:font typeface="Prompt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7.png" Type="http://schemas.openxmlformats.org/officeDocument/2006/relationships/image"/><Relationship Id="rId2" Target="../media/image1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7.pn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2" Target="../media/image11.jpeg" Type="http://schemas.openxmlformats.org/officeDocument/2006/relationships/image"/><Relationship Id="rId3" Target="../media/image14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7.png" Type="http://schemas.openxmlformats.org/officeDocument/2006/relationships/image"/><Relationship Id="rId15" Target="../media/image8.png" Type="http://schemas.openxmlformats.org/officeDocument/2006/relationships/image"/><Relationship Id="rId16" Target="../media/image9.svg" Type="http://schemas.openxmlformats.org/officeDocument/2006/relationships/image"/><Relationship Id="rId2" Target="../media/image1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7.jpeg" Type="http://schemas.openxmlformats.org/officeDocument/2006/relationships/image"/><Relationship Id="rId6" Target="../media/image16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11.jpeg" Type="http://schemas.openxmlformats.org/officeDocument/2006/relationships/image"/><Relationship Id="rId3" Target="../media/image2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2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16.png" Type="http://schemas.openxmlformats.org/officeDocument/2006/relationships/image"/><Relationship Id="rId12" Target="../media/image7.pn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2" Target="../media/image11.jpeg" Type="http://schemas.openxmlformats.org/officeDocument/2006/relationships/image"/><Relationship Id="rId3" Target="../media/image23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1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5.jpe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317063"/>
            <a:ext cx="18288000" cy="8969937"/>
            <a:chOff x="0" y="0"/>
            <a:chExt cx="4816593" cy="23624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362453"/>
            </a:xfrm>
            <a:custGeom>
              <a:avLst/>
              <a:gdLst/>
              <a:ahLst/>
              <a:cxnLst/>
              <a:rect r="r" b="b" t="t" l="l"/>
              <a:pathLst>
                <a:path h="23624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62453"/>
                  </a:lnTo>
                  <a:lnTo>
                    <a:pt x="0" y="236245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400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678424">
            <a:off x="9275999" y="3392986"/>
            <a:ext cx="2932584" cy="8549090"/>
            <a:chOff x="0" y="0"/>
            <a:chExt cx="772368" cy="22516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2368" cy="2251612"/>
            </a:xfrm>
            <a:custGeom>
              <a:avLst/>
              <a:gdLst/>
              <a:ahLst/>
              <a:cxnLst/>
              <a:rect r="r" b="b" t="t" l="l"/>
              <a:pathLst>
                <a:path h="2251612" w="772368">
                  <a:moveTo>
                    <a:pt x="0" y="0"/>
                  </a:moveTo>
                  <a:lnTo>
                    <a:pt x="772368" y="0"/>
                  </a:lnTo>
                  <a:lnTo>
                    <a:pt x="772368" y="2251612"/>
                  </a:lnTo>
                  <a:lnTo>
                    <a:pt x="0" y="22516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F4A34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772368" cy="230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261938" y="8597506"/>
            <a:ext cx="8953070" cy="2193502"/>
          </a:xfrm>
          <a:custGeom>
            <a:avLst/>
            <a:gdLst/>
            <a:ahLst/>
            <a:cxnLst/>
            <a:rect r="r" b="b" t="t" l="l"/>
            <a:pathLst>
              <a:path h="2193502" w="8953070">
                <a:moveTo>
                  <a:pt x="0" y="0"/>
                </a:moveTo>
                <a:lnTo>
                  <a:pt x="8953069" y="0"/>
                </a:lnTo>
                <a:lnTo>
                  <a:pt x="8953069" y="2193502"/>
                </a:lnTo>
                <a:lnTo>
                  <a:pt x="0" y="2193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853999">
            <a:off x="13711268" y="-3375583"/>
            <a:ext cx="3699836" cy="8147265"/>
            <a:chOff x="0" y="0"/>
            <a:chExt cx="974442" cy="21457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4442" cy="2145782"/>
            </a:xfrm>
            <a:custGeom>
              <a:avLst/>
              <a:gdLst/>
              <a:ahLst/>
              <a:cxnLst/>
              <a:rect r="r" b="b" t="t" l="l"/>
              <a:pathLst>
                <a:path h="2145782" w="974442">
                  <a:moveTo>
                    <a:pt x="0" y="0"/>
                  </a:moveTo>
                  <a:lnTo>
                    <a:pt x="974442" y="0"/>
                  </a:lnTo>
                  <a:lnTo>
                    <a:pt x="974442" y="2145782"/>
                  </a:lnTo>
                  <a:lnTo>
                    <a:pt x="0" y="2145782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74442" cy="220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3547926">
            <a:off x="7587685" y="4020683"/>
            <a:ext cx="13507857" cy="3562697"/>
          </a:xfrm>
          <a:custGeom>
            <a:avLst/>
            <a:gdLst/>
            <a:ahLst/>
            <a:cxnLst/>
            <a:rect r="r" b="b" t="t" l="l"/>
            <a:pathLst>
              <a:path h="3562697" w="13507857">
                <a:moveTo>
                  <a:pt x="0" y="0"/>
                </a:moveTo>
                <a:lnTo>
                  <a:pt x="13507858" y="0"/>
                </a:lnTo>
                <a:lnTo>
                  <a:pt x="13507858" y="3562697"/>
                </a:lnTo>
                <a:lnTo>
                  <a:pt x="0" y="3562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-671835" y="7556961"/>
            <a:ext cx="6379718" cy="1319167"/>
            <a:chOff x="0" y="0"/>
            <a:chExt cx="1965421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5421" cy="406400"/>
            </a:xfrm>
            <a:custGeom>
              <a:avLst/>
              <a:gdLst/>
              <a:ahLst/>
              <a:cxnLst/>
              <a:rect r="r" b="b" t="t" l="l"/>
              <a:pathLst>
                <a:path h="406400" w="1965421">
                  <a:moveTo>
                    <a:pt x="1762221" y="0"/>
                  </a:moveTo>
                  <a:cubicBezTo>
                    <a:pt x="1874445" y="0"/>
                    <a:pt x="1965421" y="90976"/>
                    <a:pt x="1965421" y="203200"/>
                  </a:cubicBezTo>
                  <a:cubicBezTo>
                    <a:pt x="1965421" y="315424"/>
                    <a:pt x="1874445" y="406400"/>
                    <a:pt x="17622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A34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96542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519956" y="1260874"/>
            <a:ext cx="1228079" cy="524236"/>
          </a:xfrm>
          <a:custGeom>
            <a:avLst/>
            <a:gdLst/>
            <a:ahLst/>
            <a:cxnLst/>
            <a:rect r="r" b="b" t="t" l="l"/>
            <a:pathLst>
              <a:path h="524236" w="1228079">
                <a:moveTo>
                  <a:pt x="0" y="0"/>
                </a:moveTo>
                <a:lnTo>
                  <a:pt x="1228080" y="0"/>
                </a:lnTo>
                <a:lnTo>
                  <a:pt x="1228080" y="524236"/>
                </a:lnTo>
                <a:lnTo>
                  <a:pt x="0" y="524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0" y="9216729"/>
            <a:ext cx="4261932" cy="1073743"/>
          </a:xfrm>
          <a:custGeom>
            <a:avLst/>
            <a:gdLst/>
            <a:ahLst/>
            <a:cxnLst/>
            <a:rect r="r" b="b" t="t" l="l"/>
            <a:pathLst>
              <a:path h="1073743" w="4261932">
                <a:moveTo>
                  <a:pt x="0" y="0"/>
                </a:moveTo>
                <a:lnTo>
                  <a:pt x="4261932" y="0"/>
                </a:lnTo>
                <a:lnTo>
                  <a:pt x="4261932" y="1073742"/>
                </a:lnTo>
                <a:lnTo>
                  <a:pt x="0" y="10737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-398611" y="534408"/>
            <a:ext cx="2327801" cy="988584"/>
            <a:chOff x="0" y="0"/>
            <a:chExt cx="3103734" cy="13181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7717" y="0"/>
              <a:ext cx="1293398" cy="1318113"/>
            </a:xfrm>
            <a:custGeom>
              <a:avLst/>
              <a:gdLst/>
              <a:ahLst/>
              <a:cxnLst/>
              <a:rect r="r" b="b" t="t" l="l"/>
              <a:pathLst>
                <a:path h="1318113" w="1293398">
                  <a:moveTo>
                    <a:pt x="0" y="0"/>
                  </a:moveTo>
                  <a:lnTo>
                    <a:pt x="1293398" y="0"/>
                  </a:lnTo>
                  <a:lnTo>
                    <a:pt x="1293398" y="1318113"/>
                  </a:lnTo>
                  <a:lnTo>
                    <a:pt x="0" y="131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659056"/>
              <a:ext cx="3103734" cy="61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b="true" sz="2799" spc="-83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ITMS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13543" y="2482217"/>
            <a:ext cx="11300982" cy="412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08"/>
              </a:lnSpc>
            </a:pPr>
            <a:r>
              <a:rPr lang="en-US" sz="5863" spc="-240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INTELLIGENT TRAFFIC</a:t>
            </a:r>
          </a:p>
          <a:p>
            <a:pPr algn="l">
              <a:lnSpc>
                <a:spcPts val="8208"/>
              </a:lnSpc>
            </a:pPr>
            <a:r>
              <a:rPr lang="en-US" sz="5863" spc="-240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MANAGEMENT USING FUZZY </a:t>
            </a:r>
            <a:r>
              <a:rPr lang="en-US" sz="5863" spc="-24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LOGIC &amp; MACHINE LEARNING</a:t>
            </a:r>
          </a:p>
          <a:p>
            <a:pPr algn="l">
              <a:lnSpc>
                <a:spcPts val="8208"/>
              </a:lnSpc>
              <a:spcBef>
                <a:spcPct val="0"/>
              </a:spcBef>
            </a:pPr>
          </a:p>
        </p:txBody>
      </p:sp>
      <p:sp>
        <p:nvSpPr>
          <p:cNvPr name="Freeform 23" id="23"/>
          <p:cNvSpPr/>
          <p:nvPr/>
        </p:nvSpPr>
        <p:spPr>
          <a:xfrm flipH="true" flipV="false" rot="0">
            <a:off x="10439104" y="337043"/>
            <a:ext cx="8239047" cy="10221932"/>
          </a:xfrm>
          <a:custGeom>
            <a:avLst/>
            <a:gdLst/>
            <a:ahLst/>
            <a:cxnLst/>
            <a:rect r="r" b="b" t="t" l="l"/>
            <a:pathLst>
              <a:path h="10221932" w="8239047">
                <a:moveTo>
                  <a:pt x="8239047" y="0"/>
                </a:moveTo>
                <a:lnTo>
                  <a:pt x="0" y="0"/>
                </a:lnTo>
                <a:lnTo>
                  <a:pt x="0" y="10221932"/>
                </a:lnTo>
                <a:lnTo>
                  <a:pt x="8239047" y="10221932"/>
                </a:lnTo>
                <a:lnTo>
                  <a:pt x="8239047" y="0"/>
                </a:lnTo>
                <a:close/>
              </a:path>
            </a:pathLst>
          </a:custGeom>
          <a:blipFill>
            <a:blip r:embed="rId11"/>
            <a:stretch>
              <a:fillRect l="-2605" t="0" r="-117957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605740" y="5683630"/>
            <a:ext cx="7458593" cy="75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  <a:spcBef>
                <a:spcPct val="0"/>
              </a:spcBef>
            </a:pPr>
            <a:r>
              <a:rPr lang="en-US" sz="217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Empowering Sri Lanka's traff</a:t>
            </a:r>
            <a:r>
              <a:rPr lang="en-US" sz="217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ic with Fuzzy Logic and Machine Learning for a smoother, smarter journey</a:t>
            </a:r>
          </a:p>
        </p:txBody>
      </p:sp>
      <p:grpSp>
        <p:nvGrpSpPr>
          <p:cNvPr name="Group 25" id="25"/>
          <p:cNvGrpSpPr/>
          <p:nvPr/>
        </p:nvGrpSpPr>
        <p:grpSpPr>
          <a:xfrm rot="1582226">
            <a:off x="12612763" y="-4229216"/>
            <a:ext cx="952051" cy="10010483"/>
            <a:chOff x="0" y="0"/>
            <a:chExt cx="250746" cy="26365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0746" cy="2636506"/>
            </a:xfrm>
            <a:custGeom>
              <a:avLst/>
              <a:gdLst/>
              <a:ahLst/>
              <a:cxnLst/>
              <a:rect r="r" b="b" t="t" l="l"/>
              <a:pathLst>
                <a:path h="2636506" w="250746">
                  <a:moveTo>
                    <a:pt x="0" y="0"/>
                  </a:moveTo>
                  <a:lnTo>
                    <a:pt x="250746" y="0"/>
                  </a:lnTo>
                  <a:lnTo>
                    <a:pt x="250746" y="2636506"/>
                  </a:lnTo>
                  <a:lnTo>
                    <a:pt x="0" y="2636506"/>
                  </a:lnTo>
                  <a:close/>
                </a:path>
              </a:pathLst>
            </a:custGeom>
            <a:solidFill>
              <a:srgbClr val="F4A34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50746" cy="2693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535211">
            <a:off x="12641068" y="4352566"/>
            <a:ext cx="845949" cy="10389231"/>
            <a:chOff x="0" y="0"/>
            <a:chExt cx="222801" cy="27362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2801" cy="2736259"/>
            </a:xfrm>
            <a:custGeom>
              <a:avLst/>
              <a:gdLst/>
              <a:ahLst/>
              <a:cxnLst/>
              <a:rect r="r" b="b" t="t" l="l"/>
              <a:pathLst>
                <a:path h="2736259" w="222801">
                  <a:moveTo>
                    <a:pt x="0" y="0"/>
                  </a:moveTo>
                  <a:lnTo>
                    <a:pt x="222801" y="0"/>
                  </a:lnTo>
                  <a:lnTo>
                    <a:pt x="222801" y="2736259"/>
                  </a:lnTo>
                  <a:lnTo>
                    <a:pt x="0" y="2736259"/>
                  </a:lnTo>
                  <a:close/>
                </a:path>
              </a:pathLst>
            </a:custGeom>
            <a:solidFill>
              <a:srgbClr val="F4A34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22801" cy="2793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88216" y="7779924"/>
            <a:ext cx="5519667" cy="5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3"/>
              </a:lnSpc>
              <a:spcBef>
                <a:spcPct val="0"/>
              </a:spcBef>
            </a:pPr>
            <a:r>
              <a:rPr lang="en-US" sz="3437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PROJECT ID : 25-26J-330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637922" y="9757071"/>
            <a:ext cx="14719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-32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24519">
            <a:off x="9734467" y="4900632"/>
            <a:ext cx="13507857" cy="3562697"/>
          </a:xfrm>
          <a:custGeom>
            <a:avLst/>
            <a:gdLst/>
            <a:ahLst/>
            <a:cxnLst/>
            <a:rect r="r" b="b" t="t" l="l"/>
            <a:pathLst>
              <a:path h="3562697" w="13507857">
                <a:moveTo>
                  <a:pt x="0" y="0"/>
                </a:moveTo>
                <a:lnTo>
                  <a:pt x="13507857" y="0"/>
                </a:lnTo>
                <a:lnTo>
                  <a:pt x="13507857" y="3562698"/>
                </a:lnTo>
                <a:lnTo>
                  <a:pt x="0" y="3562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317063"/>
            <a:ext cx="18288000" cy="8969937"/>
            <a:chOff x="0" y="0"/>
            <a:chExt cx="4816593" cy="2362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362453"/>
            </a:xfrm>
            <a:custGeom>
              <a:avLst/>
              <a:gdLst/>
              <a:ahLst/>
              <a:cxnLst/>
              <a:rect r="r" b="b" t="t" l="l"/>
              <a:pathLst>
                <a:path h="23624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62453"/>
                  </a:lnTo>
                  <a:lnTo>
                    <a:pt x="0" y="236245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400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201961" y="9270935"/>
            <a:ext cx="1228079" cy="524236"/>
          </a:xfrm>
          <a:custGeom>
            <a:avLst/>
            <a:gdLst/>
            <a:ahLst/>
            <a:cxnLst/>
            <a:rect r="r" b="b" t="t" l="l"/>
            <a:pathLst>
              <a:path h="524236" w="1228079">
                <a:moveTo>
                  <a:pt x="0" y="0"/>
                </a:moveTo>
                <a:lnTo>
                  <a:pt x="1228079" y="0"/>
                </a:lnTo>
                <a:lnTo>
                  <a:pt x="1228079" y="524236"/>
                </a:lnTo>
                <a:lnTo>
                  <a:pt x="0" y="524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28838" y="529563"/>
            <a:ext cx="2167602" cy="113435"/>
          </a:xfrm>
          <a:custGeom>
            <a:avLst/>
            <a:gdLst/>
            <a:ahLst/>
            <a:cxnLst/>
            <a:rect r="r" b="b" t="t" l="l"/>
            <a:pathLst>
              <a:path h="113435" w="2167602">
                <a:moveTo>
                  <a:pt x="0" y="0"/>
                </a:moveTo>
                <a:lnTo>
                  <a:pt x="2167601" y="0"/>
                </a:lnTo>
                <a:lnTo>
                  <a:pt x="2167601" y="113434"/>
                </a:lnTo>
                <a:lnTo>
                  <a:pt x="0" y="1134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96244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89264" y="153550"/>
            <a:ext cx="2327801" cy="988584"/>
            <a:chOff x="0" y="0"/>
            <a:chExt cx="3103734" cy="13181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7717" y="0"/>
              <a:ext cx="1293398" cy="1318113"/>
            </a:xfrm>
            <a:custGeom>
              <a:avLst/>
              <a:gdLst/>
              <a:ahLst/>
              <a:cxnLst/>
              <a:rect r="r" b="b" t="t" l="l"/>
              <a:pathLst>
                <a:path h="1318113" w="1293398">
                  <a:moveTo>
                    <a:pt x="0" y="0"/>
                  </a:moveTo>
                  <a:lnTo>
                    <a:pt x="1293398" y="0"/>
                  </a:lnTo>
                  <a:lnTo>
                    <a:pt x="1293398" y="1318113"/>
                  </a:lnTo>
                  <a:lnTo>
                    <a:pt x="0" y="131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659056"/>
              <a:ext cx="3103734" cy="61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b="true" sz="2799" spc="-83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ITMS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0" y="9216729"/>
            <a:ext cx="4261932" cy="1073743"/>
          </a:xfrm>
          <a:custGeom>
            <a:avLst/>
            <a:gdLst/>
            <a:ahLst/>
            <a:cxnLst/>
            <a:rect r="r" b="b" t="t" l="l"/>
            <a:pathLst>
              <a:path h="1073743" w="4261932">
                <a:moveTo>
                  <a:pt x="0" y="0"/>
                </a:moveTo>
                <a:lnTo>
                  <a:pt x="4261932" y="0"/>
                </a:lnTo>
                <a:lnTo>
                  <a:pt x="4261932" y="1073742"/>
                </a:lnTo>
                <a:lnTo>
                  <a:pt x="0" y="10737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72108" y="1857779"/>
          <a:ext cx="17943785" cy="7229018"/>
        </p:xfrm>
        <a:graphic>
          <a:graphicData uri="http://schemas.openxmlformats.org/drawingml/2006/table">
            <a:tbl>
              <a:tblPr/>
              <a:tblGrid>
                <a:gridCol w="3071312"/>
                <a:gridCol w="6857526"/>
                <a:gridCol w="8014947"/>
              </a:tblGrid>
              <a:tr h="12862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IT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PP2 Comments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Action Taken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</a:tr>
              <a:tr h="14009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IT22925572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Need to determine the parking violation zones manually once.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Prepared for the final viva.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</a:tr>
              <a:tr h="14009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IT22900890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Demonstration was not satisfactory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Prepared for the final viva demonstration.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</a:tr>
              <a:tr h="18313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IT22363848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Fuzzy logic was not properly demonstrated as only one rfid was used on one lane emergency vehicle priority is not simulated clearly.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Added a two-lane setup for emergency vehicle detection and vehicle priority.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</a:tr>
              <a:tr h="13094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IT22337580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Demonstration was not satisfactory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Prepared for the final viva demonstration.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968465" y="514493"/>
            <a:ext cx="8850641" cy="1214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0"/>
              </a:lnSpc>
              <a:spcBef>
                <a:spcPct val="0"/>
              </a:spcBef>
            </a:pPr>
            <a:r>
              <a:rPr lang="en-US" sz="7107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PP2 COMME</a:t>
            </a:r>
            <a:r>
              <a:rPr lang="en-US" sz="7107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NTS AND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07625" y="514493"/>
            <a:ext cx="7814110" cy="121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0"/>
              </a:lnSpc>
              <a:spcBef>
                <a:spcPct val="0"/>
              </a:spcBef>
            </a:pPr>
            <a:r>
              <a:rPr lang="en-US" sz="7107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AC</a:t>
            </a:r>
            <a:r>
              <a:rPr lang="en-US" sz="7107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TIONS TAKEN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37922" y="9757071"/>
            <a:ext cx="14719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-32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317063"/>
            <a:ext cx="18288000" cy="8969937"/>
            <a:chOff x="0" y="0"/>
            <a:chExt cx="4816593" cy="23624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362453"/>
            </a:xfrm>
            <a:custGeom>
              <a:avLst/>
              <a:gdLst/>
              <a:ahLst/>
              <a:cxnLst/>
              <a:rect r="r" b="b" t="t" l="l"/>
              <a:pathLst>
                <a:path h="23624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62453"/>
                  </a:lnTo>
                  <a:lnTo>
                    <a:pt x="0" y="236245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400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547926">
            <a:off x="10082386" y="8106338"/>
            <a:ext cx="13507857" cy="3562697"/>
          </a:xfrm>
          <a:custGeom>
            <a:avLst/>
            <a:gdLst/>
            <a:ahLst/>
            <a:cxnLst/>
            <a:rect r="r" b="b" t="t" l="l"/>
            <a:pathLst>
              <a:path h="3562697" w="13507857">
                <a:moveTo>
                  <a:pt x="0" y="0"/>
                </a:moveTo>
                <a:lnTo>
                  <a:pt x="13507857" y="0"/>
                </a:lnTo>
                <a:lnTo>
                  <a:pt x="13507857" y="3562698"/>
                </a:lnTo>
                <a:lnTo>
                  <a:pt x="0" y="3562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55018" y="6991236"/>
            <a:ext cx="15319792" cy="25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8" indent="-283909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Real-time control using Fuzzy Logic &amp; Machine Learning</a:t>
            </a:r>
          </a:p>
          <a:p>
            <a:pPr algn="l" marL="567818" indent="-283909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daptive traffic signals (not fixed-time)</a:t>
            </a:r>
          </a:p>
          <a:p>
            <a:pPr algn="l" marL="567818" indent="-283909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mergency vehicle prioritization</a:t>
            </a:r>
          </a:p>
          <a:p>
            <a:pPr algn="l" marL="567818" indent="-283909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Integrated system (signals, violations, parking, risk)</a:t>
            </a:r>
          </a:p>
          <a:p>
            <a:pPr algn="l">
              <a:lnSpc>
                <a:spcPts val="418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63708" y="1971239"/>
            <a:ext cx="9624575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PROBLEM </a:t>
            </a:r>
            <a:r>
              <a:rPr lang="en-US" sz="6499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 BRIEF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2912" y="5678207"/>
            <a:ext cx="10478408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</a:t>
            </a:r>
            <a:r>
              <a:rPr lang="en-US" sz="6499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ESIGN </a:t>
            </a:r>
            <a:r>
              <a:rPr lang="en-US" sz="64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EXCELLENCE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452465" y="9471687"/>
            <a:ext cx="2167602" cy="113435"/>
          </a:xfrm>
          <a:custGeom>
            <a:avLst/>
            <a:gdLst/>
            <a:ahLst/>
            <a:cxnLst/>
            <a:rect r="r" b="b" t="t" l="l"/>
            <a:pathLst>
              <a:path h="113435" w="2167602">
                <a:moveTo>
                  <a:pt x="0" y="0"/>
                </a:moveTo>
                <a:lnTo>
                  <a:pt x="2167602" y="0"/>
                </a:lnTo>
                <a:lnTo>
                  <a:pt x="2167602" y="113435"/>
                </a:lnTo>
                <a:lnTo>
                  <a:pt x="0" y="113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96244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853999">
            <a:off x="17214261" y="-2475025"/>
            <a:ext cx="4652590" cy="8147265"/>
            <a:chOff x="0" y="0"/>
            <a:chExt cx="1225374" cy="2145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5373" cy="2145782"/>
            </a:xfrm>
            <a:custGeom>
              <a:avLst/>
              <a:gdLst/>
              <a:ahLst/>
              <a:cxnLst/>
              <a:rect r="r" b="b" t="t" l="l"/>
              <a:pathLst>
                <a:path h="2145782" w="1225373">
                  <a:moveTo>
                    <a:pt x="0" y="0"/>
                  </a:moveTo>
                  <a:lnTo>
                    <a:pt x="1225373" y="0"/>
                  </a:lnTo>
                  <a:lnTo>
                    <a:pt x="1225373" y="2145782"/>
                  </a:lnTo>
                  <a:lnTo>
                    <a:pt x="0" y="2145782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25374" cy="220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83856" y="3208270"/>
            <a:ext cx="14478480" cy="259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362" indent="-284181" lvl="1">
              <a:lnSpc>
                <a:spcPts val="4185"/>
              </a:lnSpc>
              <a:buFont typeface="Arial"/>
              <a:buChar char="•"/>
            </a:pPr>
            <a:r>
              <a:rPr lang="en-US" sz="2632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Severe traffic congestion a</a:t>
            </a:r>
            <a:r>
              <a:rPr lang="en-US" sz="2632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nd delays</a:t>
            </a:r>
          </a:p>
          <a:p>
            <a:pPr algn="l" marL="568362" indent="-284181" lvl="1">
              <a:lnSpc>
                <a:spcPts val="4185"/>
              </a:lnSpc>
              <a:buFont typeface="Arial"/>
              <a:buChar char="•"/>
            </a:pPr>
            <a:r>
              <a:rPr lang="en-US" sz="2632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632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tatic signal systems (no real-time adaptation)</a:t>
            </a:r>
          </a:p>
          <a:p>
            <a:pPr algn="l" marL="568362" indent="-284181" lvl="1">
              <a:lnSpc>
                <a:spcPts val="4185"/>
              </a:lnSpc>
              <a:buFont typeface="Arial"/>
              <a:buChar char="•"/>
            </a:pPr>
            <a:r>
              <a:rPr lang="en-US" sz="2632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Ca</a:t>
            </a:r>
            <a:r>
              <a:rPr lang="en-US" sz="2632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nnot handle local traffic (tuk-tuks, buses)</a:t>
            </a:r>
          </a:p>
          <a:p>
            <a:pPr algn="l" marL="568362" indent="-284181" lvl="1">
              <a:lnSpc>
                <a:spcPts val="4185"/>
              </a:lnSpc>
              <a:buFont typeface="Arial"/>
              <a:buChar char="•"/>
            </a:pPr>
            <a:r>
              <a:rPr lang="en-US" sz="2632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Lack of smart monitoring and control</a:t>
            </a:r>
          </a:p>
          <a:p>
            <a:pPr algn="l">
              <a:lnSpc>
                <a:spcPts val="4185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-135200" y="822771"/>
            <a:ext cx="2327801" cy="988584"/>
            <a:chOff x="0" y="0"/>
            <a:chExt cx="3103734" cy="13181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7717" y="0"/>
              <a:ext cx="1293398" cy="1318113"/>
            </a:xfrm>
            <a:custGeom>
              <a:avLst/>
              <a:gdLst/>
              <a:ahLst/>
              <a:cxnLst/>
              <a:rect r="r" b="b" t="t" l="l"/>
              <a:pathLst>
                <a:path h="1318113" w="1293398">
                  <a:moveTo>
                    <a:pt x="0" y="0"/>
                  </a:moveTo>
                  <a:lnTo>
                    <a:pt x="1293398" y="0"/>
                  </a:lnTo>
                  <a:lnTo>
                    <a:pt x="1293398" y="1318113"/>
                  </a:lnTo>
                  <a:lnTo>
                    <a:pt x="0" y="131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659056"/>
              <a:ext cx="3103734" cy="61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b="true" sz="2799" spc="-83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ITMS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0" y="9216729"/>
            <a:ext cx="4261932" cy="1073743"/>
          </a:xfrm>
          <a:custGeom>
            <a:avLst/>
            <a:gdLst/>
            <a:ahLst/>
            <a:cxnLst/>
            <a:rect r="r" b="b" t="t" l="l"/>
            <a:pathLst>
              <a:path h="1073743" w="4261932">
                <a:moveTo>
                  <a:pt x="0" y="0"/>
                </a:moveTo>
                <a:lnTo>
                  <a:pt x="4261932" y="0"/>
                </a:lnTo>
                <a:lnTo>
                  <a:pt x="4261932" y="1073742"/>
                </a:lnTo>
                <a:lnTo>
                  <a:pt x="0" y="10737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637922" y="9757071"/>
            <a:ext cx="14719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-32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53999">
            <a:off x="16375694" y="-2477119"/>
            <a:ext cx="4652590" cy="8147265"/>
            <a:chOff x="0" y="0"/>
            <a:chExt cx="1225374" cy="2145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5373" cy="2145782"/>
            </a:xfrm>
            <a:custGeom>
              <a:avLst/>
              <a:gdLst/>
              <a:ahLst/>
              <a:cxnLst/>
              <a:rect r="r" b="b" t="t" l="l"/>
              <a:pathLst>
                <a:path h="2145782" w="1225373">
                  <a:moveTo>
                    <a:pt x="0" y="0"/>
                  </a:moveTo>
                  <a:lnTo>
                    <a:pt x="1225373" y="0"/>
                  </a:lnTo>
                  <a:lnTo>
                    <a:pt x="1225373" y="2145782"/>
                  </a:lnTo>
                  <a:lnTo>
                    <a:pt x="0" y="2145782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25374" cy="220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26102" y="-388330"/>
            <a:ext cx="14959788" cy="11539231"/>
          </a:xfrm>
          <a:custGeom>
            <a:avLst/>
            <a:gdLst/>
            <a:ahLst/>
            <a:cxnLst/>
            <a:rect r="r" b="b" t="t" l="l"/>
            <a:pathLst>
              <a:path h="11539231" w="14959788">
                <a:moveTo>
                  <a:pt x="0" y="0"/>
                </a:moveTo>
                <a:lnTo>
                  <a:pt x="14959788" y="0"/>
                </a:lnTo>
                <a:lnTo>
                  <a:pt x="14959788" y="11539231"/>
                </a:lnTo>
                <a:lnTo>
                  <a:pt x="0" y="11539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003" t="0" r="-1899" b="-647"/>
            </a:stretch>
          </a:blipFill>
        </p:spPr>
      </p:sp>
      <p:grpSp>
        <p:nvGrpSpPr>
          <p:cNvPr name="Group 7" id="7"/>
          <p:cNvGrpSpPr/>
          <p:nvPr/>
        </p:nvGrpSpPr>
        <p:grpSpPr>
          <a:xfrm rot="1854997">
            <a:off x="12490985" y="-1183770"/>
            <a:ext cx="5894302" cy="6411652"/>
            <a:chOff x="0" y="0"/>
            <a:chExt cx="1552409" cy="16886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2409" cy="1688666"/>
            </a:xfrm>
            <a:custGeom>
              <a:avLst/>
              <a:gdLst/>
              <a:ahLst/>
              <a:cxnLst/>
              <a:rect r="r" b="b" t="t" l="l"/>
              <a:pathLst>
                <a:path h="1688666" w="1552409">
                  <a:moveTo>
                    <a:pt x="0" y="0"/>
                  </a:moveTo>
                  <a:lnTo>
                    <a:pt x="1552409" y="0"/>
                  </a:lnTo>
                  <a:lnTo>
                    <a:pt x="1552409" y="1688666"/>
                  </a:lnTo>
                  <a:lnTo>
                    <a:pt x="0" y="1688666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552409" cy="1745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547926">
            <a:off x="10082386" y="8106338"/>
            <a:ext cx="13507857" cy="3562697"/>
          </a:xfrm>
          <a:custGeom>
            <a:avLst/>
            <a:gdLst/>
            <a:ahLst/>
            <a:cxnLst/>
            <a:rect r="r" b="b" t="t" l="l"/>
            <a:pathLst>
              <a:path h="3562697" w="13507857">
                <a:moveTo>
                  <a:pt x="0" y="0"/>
                </a:moveTo>
                <a:lnTo>
                  <a:pt x="13507857" y="0"/>
                </a:lnTo>
                <a:lnTo>
                  <a:pt x="13507857" y="3562698"/>
                </a:lnTo>
                <a:lnTo>
                  <a:pt x="0" y="3562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76398" y="1028700"/>
            <a:ext cx="2167602" cy="113435"/>
          </a:xfrm>
          <a:custGeom>
            <a:avLst/>
            <a:gdLst/>
            <a:ahLst/>
            <a:cxnLst/>
            <a:rect r="r" b="b" t="t" l="l"/>
            <a:pathLst>
              <a:path h="113435" w="2167602">
                <a:moveTo>
                  <a:pt x="0" y="0"/>
                </a:moveTo>
                <a:lnTo>
                  <a:pt x="2167602" y="0"/>
                </a:lnTo>
                <a:lnTo>
                  <a:pt x="2167602" y="113435"/>
                </a:lnTo>
                <a:lnTo>
                  <a:pt x="0" y="113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9624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63581" y="7795212"/>
            <a:ext cx="1228079" cy="524236"/>
          </a:xfrm>
          <a:custGeom>
            <a:avLst/>
            <a:gdLst/>
            <a:ahLst/>
            <a:cxnLst/>
            <a:rect r="r" b="b" t="t" l="l"/>
            <a:pathLst>
              <a:path h="524236" w="1228079">
                <a:moveTo>
                  <a:pt x="0" y="0"/>
                </a:moveTo>
                <a:lnTo>
                  <a:pt x="1228079" y="0"/>
                </a:lnTo>
                <a:lnTo>
                  <a:pt x="1228079" y="524236"/>
                </a:lnTo>
                <a:lnTo>
                  <a:pt x="0" y="5242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4173200" y="0"/>
            <a:ext cx="4111391" cy="4111391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9939" y="19939"/>
              <a:ext cx="6310122" cy="6310122"/>
            </a:xfrm>
            <a:custGeom>
              <a:avLst/>
              <a:gdLst/>
              <a:ahLst/>
              <a:cxnLst/>
              <a:rect r="r" b="b" t="t" l="l"/>
              <a:pathLst>
                <a:path h="6310122" w="6310122">
                  <a:moveTo>
                    <a:pt x="6310122" y="3155061"/>
                  </a:moveTo>
                  <a:cubicBezTo>
                    <a:pt x="6310122" y="4897501"/>
                    <a:pt x="4897501" y="6310122"/>
                    <a:pt x="3155061" y="6310122"/>
                  </a:cubicBezTo>
                  <a:cubicBezTo>
                    <a:pt x="1412621" y="6310122"/>
                    <a:pt x="0" y="4897501"/>
                    <a:pt x="0" y="3155061"/>
                  </a:cubicBezTo>
                  <a:cubicBezTo>
                    <a:pt x="0" y="1412621"/>
                    <a:pt x="1412621" y="0"/>
                    <a:pt x="3155061" y="0"/>
                  </a:cubicBezTo>
                  <a:cubicBezTo>
                    <a:pt x="4897501" y="0"/>
                    <a:pt x="6310122" y="1412621"/>
                    <a:pt x="6310122" y="3155061"/>
                  </a:cubicBezTo>
                  <a:close/>
                </a:path>
              </a:pathLst>
            </a:custGeom>
            <a:blipFill>
              <a:blip r:embed="rId10"/>
              <a:stretch>
                <a:fillRect l="0" t="-371" r="0" b="-49722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3175000"/>
                  </a:moveTo>
                  <a:cubicBezTo>
                    <a:pt x="6350000" y="4925822"/>
                    <a:pt x="4925822" y="6350000"/>
                    <a:pt x="3175000" y="6350000"/>
                  </a:cubicBezTo>
                  <a:cubicBezTo>
                    <a:pt x="1424178" y="6350000"/>
                    <a:pt x="0" y="4925822"/>
                    <a:pt x="0" y="3175000"/>
                  </a:cubicBezTo>
                  <a:cubicBezTo>
                    <a:pt x="0" y="1424178"/>
                    <a:pt x="1424178" y="0"/>
                    <a:pt x="3175000" y="0"/>
                  </a:cubicBezTo>
                  <a:cubicBezTo>
                    <a:pt x="4925822" y="0"/>
                    <a:pt x="6350000" y="1424178"/>
                    <a:pt x="6350000" y="317500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0" y="9216729"/>
            <a:ext cx="4261932" cy="1073743"/>
          </a:xfrm>
          <a:custGeom>
            <a:avLst/>
            <a:gdLst/>
            <a:ahLst/>
            <a:cxnLst/>
            <a:rect r="r" b="b" t="t" l="l"/>
            <a:pathLst>
              <a:path h="1073743" w="4261932">
                <a:moveTo>
                  <a:pt x="0" y="0"/>
                </a:moveTo>
                <a:lnTo>
                  <a:pt x="4261932" y="0"/>
                </a:lnTo>
                <a:lnTo>
                  <a:pt x="4261932" y="1073742"/>
                </a:lnTo>
                <a:lnTo>
                  <a:pt x="0" y="10737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380603" y="534408"/>
            <a:ext cx="2327801" cy="988584"/>
            <a:chOff x="0" y="0"/>
            <a:chExt cx="3103734" cy="13181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7717" y="0"/>
              <a:ext cx="1293398" cy="1318113"/>
            </a:xfrm>
            <a:custGeom>
              <a:avLst/>
              <a:gdLst/>
              <a:ahLst/>
              <a:cxnLst/>
              <a:rect r="r" b="b" t="t" l="l"/>
              <a:pathLst>
                <a:path h="1318113" w="1293398">
                  <a:moveTo>
                    <a:pt x="0" y="0"/>
                  </a:moveTo>
                  <a:lnTo>
                    <a:pt x="1293398" y="0"/>
                  </a:lnTo>
                  <a:lnTo>
                    <a:pt x="1293398" y="1318113"/>
                  </a:lnTo>
                  <a:lnTo>
                    <a:pt x="0" y="131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659056"/>
              <a:ext cx="3103734" cy="61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b="true" sz="2799" spc="-83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ITMS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629681" y="9757071"/>
            <a:ext cx="16367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-32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0" y="9258300"/>
            <a:ext cx="17629681" cy="1073743"/>
            <a:chOff x="0" y="0"/>
            <a:chExt cx="23506242" cy="14316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32914" cy="1431657"/>
            </a:xfrm>
            <a:custGeom>
              <a:avLst/>
              <a:gdLst/>
              <a:ahLst/>
              <a:cxnLst/>
              <a:rect r="r" b="b" t="t" l="l"/>
              <a:pathLst>
                <a:path h="1431657" w="5632914">
                  <a:moveTo>
                    <a:pt x="0" y="0"/>
                  </a:moveTo>
                  <a:lnTo>
                    <a:pt x="5632914" y="0"/>
                  </a:lnTo>
                  <a:lnTo>
                    <a:pt x="5632914" y="1431657"/>
                  </a:lnTo>
                  <a:lnTo>
                    <a:pt x="0" y="143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440" t="0" r="-44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20393414" y="677728"/>
              <a:ext cx="2202845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05/</a:t>
              </a: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05/2026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3311702" y="677728"/>
              <a:ext cx="194540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872907" y="691493"/>
              <a:ext cx="2615072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IT22925572   |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936629" y="677728"/>
              <a:ext cx="3215115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Gunarathna R.P   |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2794767" y="691493"/>
              <a:ext cx="2235434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25-26J-330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06005" y="3163654"/>
            <a:ext cx="13467195" cy="1895475"/>
            <a:chOff x="0" y="0"/>
            <a:chExt cx="17956260" cy="2527301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123825"/>
              <a:ext cx="17956260" cy="1440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99"/>
                </a:lnSpc>
                <a:spcBef>
                  <a:spcPct val="0"/>
                </a:spcBef>
              </a:pPr>
              <a:r>
                <a:rPr lang="en-US" sz="6499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PARKING BEHAVIOUR &amp; 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086909"/>
              <a:ext cx="17720961" cy="1440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99"/>
                </a:lnSpc>
                <a:spcBef>
                  <a:spcPct val="0"/>
                </a:spcBef>
              </a:pPr>
              <a:r>
                <a:rPr lang="en-US" sz="6499">
                  <a:solidFill>
                    <a:srgbClr val="F4A348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TRAFFIC IM</a:t>
              </a:r>
              <a:r>
                <a:rPr lang="en-US" sz="6499">
                  <a:solidFill>
                    <a:srgbClr val="F4A348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PACT ANALYSIS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30966" y="5526661"/>
            <a:ext cx="12906203" cy="31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Detec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ts illegal parking using AI (YOLOv8 + BoT-SORT)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Tracks vehicles and measures parking duration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Ev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aluates impact on traffic flow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Appli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es a dynamic fine system based on duration and impact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Sends real-time alerts</a:t>
            </a:r>
          </a:p>
          <a:p>
            <a:pPr algn="l">
              <a:lnSpc>
                <a:spcPts val="4181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839888" y="1950921"/>
            <a:ext cx="13872031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GUNARATHNA R.P  | IT22925572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1854997">
            <a:off x="13118482" y="-1010241"/>
            <a:ext cx="5218817" cy="6411652"/>
            <a:chOff x="0" y="0"/>
            <a:chExt cx="1374503" cy="16886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4503" cy="1688666"/>
            </a:xfrm>
            <a:custGeom>
              <a:avLst/>
              <a:gdLst/>
              <a:ahLst/>
              <a:cxnLst/>
              <a:rect r="r" b="b" t="t" l="l"/>
              <a:pathLst>
                <a:path h="1688666" w="1374503">
                  <a:moveTo>
                    <a:pt x="0" y="0"/>
                  </a:moveTo>
                  <a:lnTo>
                    <a:pt x="1374503" y="0"/>
                  </a:lnTo>
                  <a:lnTo>
                    <a:pt x="1374503" y="1688666"/>
                  </a:lnTo>
                  <a:lnTo>
                    <a:pt x="0" y="1688666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374503" cy="1745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547926">
            <a:off x="10082386" y="8106338"/>
            <a:ext cx="13507857" cy="3562697"/>
          </a:xfrm>
          <a:custGeom>
            <a:avLst/>
            <a:gdLst/>
            <a:ahLst/>
            <a:cxnLst/>
            <a:rect r="r" b="b" t="t" l="l"/>
            <a:pathLst>
              <a:path h="3562697" w="13507857">
                <a:moveTo>
                  <a:pt x="0" y="0"/>
                </a:moveTo>
                <a:lnTo>
                  <a:pt x="13507857" y="0"/>
                </a:lnTo>
                <a:lnTo>
                  <a:pt x="13507857" y="3562698"/>
                </a:lnTo>
                <a:lnTo>
                  <a:pt x="0" y="3562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853999">
            <a:off x="16375694" y="-2477119"/>
            <a:ext cx="4652590" cy="8147265"/>
            <a:chOff x="0" y="0"/>
            <a:chExt cx="1225374" cy="21457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5373" cy="2145782"/>
            </a:xfrm>
            <a:custGeom>
              <a:avLst/>
              <a:gdLst/>
              <a:ahLst/>
              <a:cxnLst/>
              <a:rect r="r" b="b" t="t" l="l"/>
              <a:pathLst>
                <a:path h="2145782" w="1225373">
                  <a:moveTo>
                    <a:pt x="0" y="0"/>
                  </a:moveTo>
                  <a:lnTo>
                    <a:pt x="1225373" y="0"/>
                  </a:lnTo>
                  <a:lnTo>
                    <a:pt x="1225373" y="2145782"/>
                  </a:lnTo>
                  <a:lnTo>
                    <a:pt x="0" y="2145782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25374" cy="220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4176609" y="0"/>
            <a:ext cx="4111391" cy="4111391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939" y="19939"/>
              <a:ext cx="6310122" cy="6310122"/>
            </a:xfrm>
            <a:custGeom>
              <a:avLst/>
              <a:gdLst/>
              <a:ahLst/>
              <a:cxnLst/>
              <a:rect r="r" b="b" t="t" l="l"/>
              <a:pathLst>
                <a:path h="6310122" w="6310122">
                  <a:moveTo>
                    <a:pt x="6310122" y="3155061"/>
                  </a:moveTo>
                  <a:cubicBezTo>
                    <a:pt x="6310122" y="4897501"/>
                    <a:pt x="4897501" y="6310122"/>
                    <a:pt x="3155061" y="6310122"/>
                  </a:cubicBezTo>
                  <a:cubicBezTo>
                    <a:pt x="1412621" y="6310122"/>
                    <a:pt x="0" y="4897501"/>
                    <a:pt x="0" y="3155061"/>
                  </a:cubicBezTo>
                  <a:cubicBezTo>
                    <a:pt x="0" y="1412621"/>
                    <a:pt x="1412621" y="0"/>
                    <a:pt x="3155061" y="0"/>
                  </a:cubicBezTo>
                  <a:cubicBezTo>
                    <a:pt x="4897501" y="0"/>
                    <a:pt x="6310122" y="1412621"/>
                    <a:pt x="6310122" y="3155061"/>
                  </a:cubicBezTo>
                  <a:close/>
                </a:path>
              </a:pathLst>
            </a:custGeom>
            <a:blipFill>
              <a:blip r:embed="rId5"/>
              <a:stretch>
                <a:fillRect l="-79114" t="-315" r="-79114" b="-315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3175000"/>
                  </a:moveTo>
                  <a:cubicBezTo>
                    <a:pt x="6350000" y="4925822"/>
                    <a:pt x="4925822" y="6350000"/>
                    <a:pt x="3175000" y="6350000"/>
                  </a:cubicBezTo>
                  <a:cubicBezTo>
                    <a:pt x="1424178" y="6350000"/>
                    <a:pt x="0" y="4925822"/>
                    <a:pt x="0" y="3175000"/>
                  </a:cubicBezTo>
                  <a:cubicBezTo>
                    <a:pt x="0" y="1424178"/>
                    <a:pt x="1424178" y="0"/>
                    <a:pt x="3175000" y="0"/>
                  </a:cubicBezTo>
                  <a:cubicBezTo>
                    <a:pt x="4925822" y="0"/>
                    <a:pt x="6350000" y="1424178"/>
                    <a:pt x="6350000" y="317500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173200" y="0"/>
            <a:ext cx="4114800" cy="4114800"/>
            <a:chOff x="0" y="0"/>
            <a:chExt cx="5486400" cy="54864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486400" cy="548640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1854997">
            <a:off x="12643385" y="-1031370"/>
            <a:ext cx="5894302" cy="6411652"/>
            <a:chOff x="0" y="0"/>
            <a:chExt cx="1552409" cy="16886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2409" cy="1688666"/>
            </a:xfrm>
            <a:custGeom>
              <a:avLst/>
              <a:gdLst/>
              <a:ahLst/>
              <a:cxnLst/>
              <a:rect r="r" b="b" t="t" l="l"/>
              <a:pathLst>
                <a:path h="1688666" w="1552409">
                  <a:moveTo>
                    <a:pt x="0" y="0"/>
                  </a:moveTo>
                  <a:lnTo>
                    <a:pt x="1552409" y="0"/>
                  </a:lnTo>
                  <a:lnTo>
                    <a:pt x="1552409" y="1688666"/>
                  </a:lnTo>
                  <a:lnTo>
                    <a:pt x="0" y="1688666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552409" cy="1745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853999">
            <a:off x="16528094" y="-2324719"/>
            <a:ext cx="4652590" cy="8147265"/>
            <a:chOff x="0" y="0"/>
            <a:chExt cx="1225374" cy="21457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25373" cy="2145782"/>
            </a:xfrm>
            <a:custGeom>
              <a:avLst/>
              <a:gdLst/>
              <a:ahLst/>
              <a:cxnLst/>
              <a:rect r="r" b="b" t="t" l="l"/>
              <a:pathLst>
                <a:path h="2145782" w="1225373">
                  <a:moveTo>
                    <a:pt x="0" y="0"/>
                  </a:moveTo>
                  <a:lnTo>
                    <a:pt x="1225373" y="0"/>
                  </a:lnTo>
                  <a:lnTo>
                    <a:pt x="1225373" y="2145782"/>
                  </a:lnTo>
                  <a:lnTo>
                    <a:pt x="0" y="2145782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225374" cy="220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4173200" y="139890"/>
            <a:ext cx="4111391" cy="4111391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939" y="19939"/>
              <a:ext cx="6310122" cy="6310122"/>
            </a:xfrm>
            <a:custGeom>
              <a:avLst/>
              <a:gdLst/>
              <a:ahLst/>
              <a:cxnLst/>
              <a:rect r="r" b="b" t="t" l="l"/>
              <a:pathLst>
                <a:path h="6310122" w="6310122">
                  <a:moveTo>
                    <a:pt x="6310122" y="3155061"/>
                  </a:moveTo>
                  <a:cubicBezTo>
                    <a:pt x="6310122" y="4897501"/>
                    <a:pt x="4897501" y="6310122"/>
                    <a:pt x="3155061" y="6310122"/>
                  </a:cubicBezTo>
                  <a:cubicBezTo>
                    <a:pt x="1412621" y="6310122"/>
                    <a:pt x="0" y="4897501"/>
                    <a:pt x="0" y="3155061"/>
                  </a:cubicBezTo>
                  <a:cubicBezTo>
                    <a:pt x="0" y="1412621"/>
                    <a:pt x="1412621" y="0"/>
                    <a:pt x="3155061" y="0"/>
                  </a:cubicBezTo>
                  <a:cubicBezTo>
                    <a:pt x="4897501" y="0"/>
                    <a:pt x="6310122" y="1412621"/>
                    <a:pt x="6310122" y="3155061"/>
                  </a:cubicBezTo>
                  <a:close/>
                </a:path>
              </a:pathLst>
            </a:custGeom>
            <a:blipFill>
              <a:blip r:embed="rId5"/>
              <a:stretch>
                <a:fillRect l="-79114" t="-315" r="-79114" b="-315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3175000"/>
                  </a:moveTo>
                  <a:cubicBezTo>
                    <a:pt x="6350000" y="4925822"/>
                    <a:pt x="4925822" y="6350000"/>
                    <a:pt x="3175000" y="6350000"/>
                  </a:cubicBezTo>
                  <a:cubicBezTo>
                    <a:pt x="1424178" y="6350000"/>
                    <a:pt x="0" y="4925822"/>
                    <a:pt x="0" y="3175000"/>
                  </a:cubicBezTo>
                  <a:cubicBezTo>
                    <a:pt x="0" y="1424178"/>
                    <a:pt x="1424178" y="0"/>
                    <a:pt x="3175000" y="0"/>
                  </a:cubicBezTo>
                  <a:cubicBezTo>
                    <a:pt x="4925822" y="0"/>
                    <a:pt x="6350000" y="1424178"/>
                    <a:pt x="6350000" y="317500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173200" y="117056"/>
            <a:ext cx="4118209" cy="4137649"/>
            <a:chOff x="0" y="0"/>
            <a:chExt cx="5490945" cy="551686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5490945" cy="5516866"/>
              <a:chOff x="0" y="0"/>
              <a:chExt cx="812800" cy="81663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6637"/>
              </a:xfrm>
              <a:custGeom>
                <a:avLst/>
                <a:gdLst/>
                <a:ahLst/>
                <a:cxnLst/>
                <a:rect r="r" b="b" t="t" l="l"/>
                <a:pathLst>
                  <a:path h="816637" w="812800">
                    <a:moveTo>
                      <a:pt x="406400" y="0"/>
                    </a:moveTo>
                    <a:cubicBezTo>
                      <a:pt x="181951" y="0"/>
                      <a:pt x="0" y="182810"/>
                      <a:pt x="0" y="408318"/>
                    </a:cubicBezTo>
                    <a:cubicBezTo>
                      <a:pt x="0" y="633827"/>
                      <a:pt x="181951" y="816637"/>
                      <a:pt x="406400" y="816637"/>
                    </a:cubicBezTo>
                    <a:cubicBezTo>
                      <a:pt x="630849" y="816637"/>
                      <a:pt x="812800" y="633827"/>
                      <a:pt x="812800" y="408318"/>
                    </a:cubicBezTo>
                    <a:cubicBezTo>
                      <a:pt x="812800" y="182810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236" t="0" r="-236" b="0"/>
                </a:stretch>
              </a:blipFill>
            </p:spPr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90945" cy="5516866"/>
            </a:xfrm>
            <a:custGeom>
              <a:avLst/>
              <a:gdLst/>
              <a:ahLst/>
              <a:cxnLst/>
              <a:rect r="r" b="b" t="t" l="l"/>
              <a:pathLst>
                <a:path h="5516866" w="5490945">
                  <a:moveTo>
                    <a:pt x="0" y="0"/>
                  </a:moveTo>
                  <a:lnTo>
                    <a:pt x="5490945" y="0"/>
                  </a:lnTo>
                  <a:lnTo>
                    <a:pt x="5490945" y="5516866"/>
                  </a:lnTo>
                  <a:lnTo>
                    <a:pt x="0" y="5516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36" t="0" r="-236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6976398" y="1028700"/>
            <a:ext cx="2167602" cy="113435"/>
          </a:xfrm>
          <a:custGeom>
            <a:avLst/>
            <a:gdLst/>
            <a:ahLst/>
            <a:cxnLst/>
            <a:rect r="r" b="b" t="t" l="l"/>
            <a:pathLst>
              <a:path h="113435" w="2167602">
                <a:moveTo>
                  <a:pt x="0" y="0"/>
                </a:moveTo>
                <a:lnTo>
                  <a:pt x="2167602" y="0"/>
                </a:lnTo>
                <a:lnTo>
                  <a:pt x="2167602" y="113435"/>
                </a:lnTo>
                <a:lnTo>
                  <a:pt x="0" y="113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96244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163581" y="7795212"/>
            <a:ext cx="1228079" cy="524236"/>
          </a:xfrm>
          <a:custGeom>
            <a:avLst/>
            <a:gdLst/>
            <a:ahLst/>
            <a:cxnLst/>
            <a:rect r="r" b="b" t="t" l="l"/>
            <a:pathLst>
              <a:path h="524236" w="1228079">
                <a:moveTo>
                  <a:pt x="0" y="0"/>
                </a:moveTo>
                <a:lnTo>
                  <a:pt x="1228079" y="0"/>
                </a:lnTo>
                <a:lnTo>
                  <a:pt x="1228079" y="524236"/>
                </a:lnTo>
                <a:lnTo>
                  <a:pt x="0" y="5242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0" y="9216729"/>
            <a:ext cx="4261932" cy="1073743"/>
          </a:xfrm>
          <a:custGeom>
            <a:avLst/>
            <a:gdLst/>
            <a:ahLst/>
            <a:cxnLst/>
            <a:rect r="r" b="b" t="t" l="l"/>
            <a:pathLst>
              <a:path h="1073743" w="4261932">
                <a:moveTo>
                  <a:pt x="0" y="0"/>
                </a:moveTo>
                <a:lnTo>
                  <a:pt x="4261932" y="0"/>
                </a:lnTo>
                <a:lnTo>
                  <a:pt x="4261932" y="1073742"/>
                </a:lnTo>
                <a:lnTo>
                  <a:pt x="0" y="107374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-380603" y="534408"/>
            <a:ext cx="2327801" cy="988584"/>
            <a:chOff x="0" y="0"/>
            <a:chExt cx="3103734" cy="131811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7717" y="0"/>
              <a:ext cx="1293398" cy="1318113"/>
            </a:xfrm>
            <a:custGeom>
              <a:avLst/>
              <a:gdLst/>
              <a:ahLst/>
              <a:cxnLst/>
              <a:rect r="r" b="b" t="t" l="l"/>
              <a:pathLst>
                <a:path h="1318113" w="1293398">
                  <a:moveTo>
                    <a:pt x="0" y="0"/>
                  </a:moveTo>
                  <a:lnTo>
                    <a:pt x="1293398" y="0"/>
                  </a:lnTo>
                  <a:lnTo>
                    <a:pt x="1293398" y="1318113"/>
                  </a:lnTo>
                  <a:lnTo>
                    <a:pt x="0" y="131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659056"/>
              <a:ext cx="3103734" cy="61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b="true" sz="2799" spc="-83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ITMS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839888" y="2879725"/>
            <a:ext cx="13830601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SMART TRAFFIC </a:t>
            </a:r>
            <a:r>
              <a:rPr lang="en-US" sz="6499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VIOLATION DETECTION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39888" y="1950921"/>
            <a:ext cx="13872031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RANDIMA K.M.G.D  | IT22900890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30966" y="5381497"/>
            <a:ext cx="12906203" cy="31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Detec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ts traffic violations using YOLOv8 (AI-based detection)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Identifies violations and tracks vehicles in real time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Assigns a 100-point driver safety score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Score reduces based on violation severity and resets daily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Sends alerts and generates reports to promote safe driving</a:t>
            </a:r>
          </a:p>
          <a:p>
            <a:pPr algn="l">
              <a:lnSpc>
                <a:spcPts val="4181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7637922" y="9757071"/>
            <a:ext cx="14719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-32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427043" y="9757071"/>
            <a:ext cx="166956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-32">
                <a:solidFill>
                  <a:srgbClr val="FFFFFF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05</a:t>
            </a:r>
            <a:r>
              <a:rPr lang="en-US" b="true" sz="2199" spc="-32">
                <a:solidFill>
                  <a:srgbClr val="FFFFFF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/05/2026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407737" y="9795171"/>
            <a:ext cx="7114453" cy="344969"/>
            <a:chOff x="0" y="0"/>
            <a:chExt cx="9485937" cy="459958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-24335"/>
              <a:ext cx="2747572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IT22900890   |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090732" y="-38100"/>
              <a:ext cx="3682862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Randima K.M.G.D   |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7230794" y="-38100"/>
              <a:ext cx="2255143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25-26J-330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53999">
            <a:off x="16375694" y="-2477119"/>
            <a:ext cx="4652590" cy="8147265"/>
            <a:chOff x="0" y="0"/>
            <a:chExt cx="1225374" cy="2145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5373" cy="2145782"/>
            </a:xfrm>
            <a:custGeom>
              <a:avLst/>
              <a:gdLst/>
              <a:ahLst/>
              <a:cxnLst/>
              <a:rect r="r" b="b" t="t" l="l"/>
              <a:pathLst>
                <a:path h="2145782" w="1225373">
                  <a:moveTo>
                    <a:pt x="0" y="0"/>
                  </a:moveTo>
                  <a:lnTo>
                    <a:pt x="1225373" y="0"/>
                  </a:lnTo>
                  <a:lnTo>
                    <a:pt x="1225373" y="2145782"/>
                  </a:lnTo>
                  <a:lnTo>
                    <a:pt x="0" y="2145782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25374" cy="220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1834" y="315645"/>
            <a:ext cx="18288000" cy="10510315"/>
          </a:xfrm>
          <a:custGeom>
            <a:avLst/>
            <a:gdLst/>
            <a:ahLst/>
            <a:cxnLst/>
            <a:rect r="r" b="b" t="t" l="l"/>
            <a:pathLst>
              <a:path h="10510315" w="18288000">
                <a:moveTo>
                  <a:pt x="0" y="0"/>
                </a:moveTo>
                <a:lnTo>
                  <a:pt x="18288000" y="0"/>
                </a:lnTo>
                <a:lnTo>
                  <a:pt x="18288000" y="10510315"/>
                </a:lnTo>
                <a:lnTo>
                  <a:pt x="0" y="10510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963" r="0" b="-79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1854997">
            <a:off x="13147059" y="-1150130"/>
            <a:ext cx="5894302" cy="6411652"/>
            <a:chOff x="0" y="0"/>
            <a:chExt cx="1552409" cy="16886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2409" cy="1688666"/>
            </a:xfrm>
            <a:custGeom>
              <a:avLst/>
              <a:gdLst/>
              <a:ahLst/>
              <a:cxnLst/>
              <a:rect r="r" b="b" t="t" l="l"/>
              <a:pathLst>
                <a:path h="1688666" w="1552409">
                  <a:moveTo>
                    <a:pt x="0" y="0"/>
                  </a:moveTo>
                  <a:lnTo>
                    <a:pt x="1552409" y="0"/>
                  </a:lnTo>
                  <a:lnTo>
                    <a:pt x="1552409" y="1688666"/>
                  </a:lnTo>
                  <a:lnTo>
                    <a:pt x="0" y="1688666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552409" cy="1745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976398" y="1028700"/>
            <a:ext cx="2167602" cy="113435"/>
          </a:xfrm>
          <a:custGeom>
            <a:avLst/>
            <a:gdLst/>
            <a:ahLst/>
            <a:cxnLst/>
            <a:rect r="r" b="b" t="t" l="l"/>
            <a:pathLst>
              <a:path h="113435" w="2167602">
                <a:moveTo>
                  <a:pt x="0" y="0"/>
                </a:moveTo>
                <a:lnTo>
                  <a:pt x="2167602" y="0"/>
                </a:lnTo>
                <a:lnTo>
                  <a:pt x="2167602" y="113435"/>
                </a:lnTo>
                <a:lnTo>
                  <a:pt x="0" y="113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9624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63581" y="7795212"/>
            <a:ext cx="1228079" cy="524236"/>
          </a:xfrm>
          <a:custGeom>
            <a:avLst/>
            <a:gdLst/>
            <a:ahLst/>
            <a:cxnLst/>
            <a:rect r="r" b="b" t="t" l="l"/>
            <a:pathLst>
              <a:path h="524236" w="1228079">
                <a:moveTo>
                  <a:pt x="0" y="0"/>
                </a:moveTo>
                <a:lnTo>
                  <a:pt x="1228079" y="0"/>
                </a:lnTo>
                <a:lnTo>
                  <a:pt x="1228079" y="524236"/>
                </a:lnTo>
                <a:lnTo>
                  <a:pt x="0" y="524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05717" y="5649713"/>
            <a:ext cx="12906203" cy="31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Collects real-time traffic data using IoT sensors (IR, RFID, cameras)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Con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trols traffic signals dynamically using fuzzy logic (IF–THEN rules)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djusts timing based on traffic density (low, medium, high)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Integrates machine learning for adaptive control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Pr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ovides emergency vehicle priority and reduces congestion</a:t>
            </a:r>
          </a:p>
          <a:p>
            <a:pPr algn="l">
              <a:lnSpc>
                <a:spcPts val="418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83298" y="3144389"/>
            <a:ext cx="13830601" cy="341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FUZZY LOGIC CONTROLLER</a:t>
            </a:r>
            <a:r>
              <a:rPr lang="en-US" sz="6499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64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FOR</a:t>
            </a:r>
          </a:p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ADAPTIVE SIGNAL CONTROL</a:t>
            </a:r>
          </a:p>
          <a:p>
            <a:pPr algn="l">
              <a:lnSpc>
                <a:spcPts val="9099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4038514" y="183366"/>
            <a:ext cx="4111391" cy="4111391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9939" y="19939"/>
              <a:ext cx="6310122" cy="6310122"/>
            </a:xfrm>
            <a:custGeom>
              <a:avLst/>
              <a:gdLst/>
              <a:ahLst/>
              <a:cxnLst/>
              <a:rect r="r" b="b" t="t" l="l"/>
              <a:pathLst>
                <a:path h="6310122" w="6310122">
                  <a:moveTo>
                    <a:pt x="6310122" y="3155061"/>
                  </a:moveTo>
                  <a:cubicBezTo>
                    <a:pt x="6310122" y="4897501"/>
                    <a:pt x="4897501" y="6310122"/>
                    <a:pt x="3155061" y="6310122"/>
                  </a:cubicBezTo>
                  <a:cubicBezTo>
                    <a:pt x="1412621" y="6310122"/>
                    <a:pt x="0" y="4897501"/>
                    <a:pt x="0" y="3155061"/>
                  </a:cubicBezTo>
                  <a:cubicBezTo>
                    <a:pt x="0" y="1412621"/>
                    <a:pt x="1412621" y="0"/>
                    <a:pt x="3155061" y="0"/>
                  </a:cubicBezTo>
                  <a:cubicBezTo>
                    <a:pt x="4897501" y="0"/>
                    <a:pt x="6310122" y="1412621"/>
                    <a:pt x="6310122" y="3155061"/>
                  </a:cubicBezTo>
                  <a:close/>
                </a:path>
              </a:pathLst>
            </a:custGeom>
            <a:blipFill>
              <a:blip r:embed="rId8"/>
              <a:stretch>
                <a:fillRect l="-6567" t="0" r="-6567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3175000"/>
                  </a:moveTo>
                  <a:cubicBezTo>
                    <a:pt x="6350000" y="4925822"/>
                    <a:pt x="4925822" y="6350000"/>
                    <a:pt x="3175000" y="6350000"/>
                  </a:cubicBezTo>
                  <a:cubicBezTo>
                    <a:pt x="1424178" y="6350000"/>
                    <a:pt x="0" y="4925822"/>
                    <a:pt x="0" y="3175000"/>
                  </a:cubicBezTo>
                  <a:cubicBezTo>
                    <a:pt x="0" y="1424178"/>
                    <a:pt x="1424178" y="0"/>
                    <a:pt x="3175000" y="0"/>
                  </a:cubicBezTo>
                  <a:cubicBezTo>
                    <a:pt x="4925822" y="0"/>
                    <a:pt x="6350000" y="1424178"/>
                    <a:pt x="6350000" y="317500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0" y="9216729"/>
            <a:ext cx="4261932" cy="1073743"/>
          </a:xfrm>
          <a:custGeom>
            <a:avLst/>
            <a:gdLst/>
            <a:ahLst/>
            <a:cxnLst/>
            <a:rect r="r" b="b" t="t" l="l"/>
            <a:pathLst>
              <a:path h="1073743" w="4261932">
                <a:moveTo>
                  <a:pt x="0" y="0"/>
                </a:moveTo>
                <a:lnTo>
                  <a:pt x="4261932" y="0"/>
                </a:lnTo>
                <a:lnTo>
                  <a:pt x="4261932" y="1073742"/>
                </a:lnTo>
                <a:lnTo>
                  <a:pt x="0" y="10737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-380603" y="534408"/>
            <a:ext cx="2327801" cy="988584"/>
            <a:chOff x="0" y="0"/>
            <a:chExt cx="3103734" cy="13181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7717" y="0"/>
              <a:ext cx="1293398" cy="1318113"/>
            </a:xfrm>
            <a:custGeom>
              <a:avLst/>
              <a:gdLst/>
              <a:ahLst/>
              <a:cxnLst/>
              <a:rect r="r" b="b" t="t" l="l"/>
              <a:pathLst>
                <a:path h="1318113" w="1293398">
                  <a:moveTo>
                    <a:pt x="0" y="0"/>
                  </a:moveTo>
                  <a:lnTo>
                    <a:pt x="1293398" y="0"/>
                  </a:lnTo>
                  <a:lnTo>
                    <a:pt x="1293398" y="1318113"/>
                  </a:lnTo>
                  <a:lnTo>
                    <a:pt x="0" y="131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659056"/>
              <a:ext cx="3103734" cy="61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b="true" sz="2799" spc="-83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ITMS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39888" y="1950921"/>
            <a:ext cx="13872031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TENNAKOON I.M.S.R  | IT22363848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637922" y="9757071"/>
            <a:ext cx="14719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-32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470683" y="9757071"/>
            <a:ext cx="17886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-32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05</a:t>
            </a:r>
            <a:r>
              <a:rPr lang="en-US" b="true" sz="2199" spc="-32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/05/2026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355266" y="9795171"/>
            <a:ext cx="7308065" cy="735494"/>
            <a:chOff x="0" y="0"/>
            <a:chExt cx="9744086" cy="980658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24335"/>
              <a:ext cx="2638127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IT22363848  | </a:t>
              </a:r>
            </a:p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093030" y="-24335"/>
              <a:ext cx="3941011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Tennakoon I.M.S.R.  |</a:t>
              </a:r>
            </a:p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7488943" y="-38100"/>
              <a:ext cx="2255143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25-26J-330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1854997">
            <a:off x="12490985" y="-1183770"/>
            <a:ext cx="5894302" cy="6411652"/>
            <a:chOff x="0" y="0"/>
            <a:chExt cx="1552409" cy="16886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2409" cy="1688666"/>
            </a:xfrm>
            <a:custGeom>
              <a:avLst/>
              <a:gdLst/>
              <a:ahLst/>
              <a:cxnLst/>
              <a:rect r="r" b="b" t="t" l="l"/>
              <a:pathLst>
                <a:path h="1688666" w="1552409">
                  <a:moveTo>
                    <a:pt x="0" y="0"/>
                  </a:moveTo>
                  <a:lnTo>
                    <a:pt x="1552409" y="0"/>
                  </a:lnTo>
                  <a:lnTo>
                    <a:pt x="1552409" y="1688666"/>
                  </a:lnTo>
                  <a:lnTo>
                    <a:pt x="0" y="1688666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552409" cy="1745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954122">
            <a:off x="7827764" y="4981852"/>
            <a:ext cx="12021177" cy="9811669"/>
            <a:chOff x="0" y="0"/>
            <a:chExt cx="1387003" cy="11320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7003" cy="1132070"/>
            </a:xfrm>
            <a:custGeom>
              <a:avLst/>
              <a:gdLst/>
              <a:ahLst/>
              <a:cxnLst/>
              <a:rect r="r" b="b" t="t" l="l"/>
              <a:pathLst>
                <a:path h="1132070" w="1387003">
                  <a:moveTo>
                    <a:pt x="203200" y="0"/>
                  </a:moveTo>
                  <a:lnTo>
                    <a:pt x="1387003" y="0"/>
                  </a:lnTo>
                  <a:lnTo>
                    <a:pt x="1183803" y="1132070"/>
                  </a:lnTo>
                  <a:lnTo>
                    <a:pt x="0" y="113207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-77785" t="-23330" r="0" b="-2201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317063"/>
            <a:ext cx="18288000" cy="8969937"/>
            <a:chOff x="0" y="0"/>
            <a:chExt cx="4816593" cy="23624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362453"/>
            </a:xfrm>
            <a:custGeom>
              <a:avLst/>
              <a:gdLst/>
              <a:ahLst/>
              <a:cxnLst/>
              <a:rect r="r" b="b" t="t" l="l"/>
              <a:pathLst>
                <a:path h="23624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62453"/>
                  </a:lnTo>
                  <a:lnTo>
                    <a:pt x="0" y="236245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400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3547926">
            <a:off x="10082386" y="8106338"/>
            <a:ext cx="13507857" cy="3562697"/>
          </a:xfrm>
          <a:custGeom>
            <a:avLst/>
            <a:gdLst/>
            <a:ahLst/>
            <a:cxnLst/>
            <a:rect r="r" b="b" t="t" l="l"/>
            <a:pathLst>
              <a:path h="3562697" w="13507857">
                <a:moveTo>
                  <a:pt x="0" y="0"/>
                </a:moveTo>
                <a:lnTo>
                  <a:pt x="13507857" y="0"/>
                </a:lnTo>
                <a:lnTo>
                  <a:pt x="13507857" y="3562698"/>
                </a:lnTo>
                <a:lnTo>
                  <a:pt x="0" y="3562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853999">
            <a:off x="16375694" y="-2477119"/>
            <a:ext cx="4652590" cy="8147265"/>
            <a:chOff x="0" y="0"/>
            <a:chExt cx="1225374" cy="21457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5373" cy="2145782"/>
            </a:xfrm>
            <a:custGeom>
              <a:avLst/>
              <a:gdLst/>
              <a:ahLst/>
              <a:cxnLst/>
              <a:rect r="r" b="b" t="t" l="l"/>
              <a:pathLst>
                <a:path h="2145782" w="1225373">
                  <a:moveTo>
                    <a:pt x="0" y="0"/>
                  </a:moveTo>
                  <a:lnTo>
                    <a:pt x="1225373" y="0"/>
                  </a:lnTo>
                  <a:lnTo>
                    <a:pt x="1225373" y="2145782"/>
                  </a:lnTo>
                  <a:lnTo>
                    <a:pt x="0" y="2145782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25374" cy="220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76398" y="1028700"/>
            <a:ext cx="2167602" cy="113435"/>
          </a:xfrm>
          <a:custGeom>
            <a:avLst/>
            <a:gdLst/>
            <a:ahLst/>
            <a:cxnLst/>
            <a:rect r="r" b="b" t="t" l="l"/>
            <a:pathLst>
              <a:path h="113435" w="2167602">
                <a:moveTo>
                  <a:pt x="0" y="0"/>
                </a:moveTo>
                <a:lnTo>
                  <a:pt x="2167602" y="0"/>
                </a:lnTo>
                <a:lnTo>
                  <a:pt x="2167602" y="113435"/>
                </a:lnTo>
                <a:lnTo>
                  <a:pt x="0" y="113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96244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63581" y="7795212"/>
            <a:ext cx="1228079" cy="524236"/>
          </a:xfrm>
          <a:custGeom>
            <a:avLst/>
            <a:gdLst/>
            <a:ahLst/>
            <a:cxnLst/>
            <a:rect r="r" b="b" t="t" l="l"/>
            <a:pathLst>
              <a:path h="524236" w="1228079">
                <a:moveTo>
                  <a:pt x="0" y="0"/>
                </a:moveTo>
                <a:lnTo>
                  <a:pt x="1228079" y="0"/>
                </a:lnTo>
                <a:lnTo>
                  <a:pt x="1228079" y="524236"/>
                </a:lnTo>
                <a:lnTo>
                  <a:pt x="0" y="5242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83298" y="3144389"/>
            <a:ext cx="13830601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ACCIDENT RISK PREDICTION &amp; </a:t>
            </a:r>
            <a:r>
              <a:rPr lang="en-US" sz="6499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DASHBOARD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4176609" y="-33639"/>
            <a:ext cx="4111391" cy="4111391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939" y="19939"/>
              <a:ext cx="6310122" cy="6310122"/>
            </a:xfrm>
            <a:custGeom>
              <a:avLst/>
              <a:gdLst/>
              <a:ahLst/>
              <a:cxnLst/>
              <a:rect r="r" b="b" t="t" l="l"/>
              <a:pathLst>
                <a:path h="6310122" w="6310122">
                  <a:moveTo>
                    <a:pt x="6310122" y="3155061"/>
                  </a:moveTo>
                  <a:cubicBezTo>
                    <a:pt x="6310122" y="4897501"/>
                    <a:pt x="4897501" y="6310122"/>
                    <a:pt x="3155061" y="6310122"/>
                  </a:cubicBezTo>
                  <a:cubicBezTo>
                    <a:pt x="1412621" y="6310122"/>
                    <a:pt x="0" y="4897501"/>
                    <a:pt x="0" y="3155061"/>
                  </a:cubicBezTo>
                  <a:cubicBezTo>
                    <a:pt x="0" y="1412621"/>
                    <a:pt x="1412621" y="0"/>
                    <a:pt x="3155061" y="0"/>
                  </a:cubicBezTo>
                  <a:cubicBezTo>
                    <a:pt x="4897501" y="0"/>
                    <a:pt x="6310122" y="1412621"/>
                    <a:pt x="6310122" y="3155061"/>
                  </a:cubicBez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3175000"/>
                  </a:moveTo>
                  <a:cubicBezTo>
                    <a:pt x="6350000" y="4925822"/>
                    <a:pt x="4925822" y="6350000"/>
                    <a:pt x="3175000" y="6350000"/>
                  </a:cubicBezTo>
                  <a:cubicBezTo>
                    <a:pt x="1424178" y="6350000"/>
                    <a:pt x="0" y="4925822"/>
                    <a:pt x="0" y="3175000"/>
                  </a:cubicBezTo>
                  <a:cubicBezTo>
                    <a:pt x="0" y="1424178"/>
                    <a:pt x="1424178" y="0"/>
                    <a:pt x="3175000" y="0"/>
                  </a:cubicBezTo>
                  <a:cubicBezTo>
                    <a:pt x="4925822" y="0"/>
                    <a:pt x="6350000" y="1424178"/>
                    <a:pt x="6350000" y="317500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0" y="9216729"/>
            <a:ext cx="4261932" cy="1073743"/>
          </a:xfrm>
          <a:custGeom>
            <a:avLst/>
            <a:gdLst/>
            <a:ahLst/>
            <a:cxnLst/>
            <a:rect r="r" b="b" t="t" l="l"/>
            <a:pathLst>
              <a:path h="1073743" w="4261932">
                <a:moveTo>
                  <a:pt x="0" y="0"/>
                </a:moveTo>
                <a:lnTo>
                  <a:pt x="4261932" y="0"/>
                </a:lnTo>
                <a:lnTo>
                  <a:pt x="4261932" y="1073742"/>
                </a:lnTo>
                <a:lnTo>
                  <a:pt x="0" y="10737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-380603" y="534408"/>
            <a:ext cx="2327801" cy="988584"/>
            <a:chOff x="0" y="0"/>
            <a:chExt cx="3103734" cy="131811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7717" y="0"/>
              <a:ext cx="1293398" cy="1318113"/>
            </a:xfrm>
            <a:custGeom>
              <a:avLst/>
              <a:gdLst/>
              <a:ahLst/>
              <a:cxnLst/>
              <a:rect r="r" b="b" t="t" l="l"/>
              <a:pathLst>
                <a:path h="1318113" w="1293398">
                  <a:moveTo>
                    <a:pt x="0" y="0"/>
                  </a:moveTo>
                  <a:lnTo>
                    <a:pt x="1293398" y="0"/>
                  </a:lnTo>
                  <a:lnTo>
                    <a:pt x="1293398" y="1318113"/>
                  </a:lnTo>
                  <a:lnTo>
                    <a:pt x="0" y="131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659056"/>
              <a:ext cx="3103734" cy="61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b="true" sz="2799" spc="-83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ITMS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130966" y="5701179"/>
            <a:ext cx="12906203" cy="31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Predicts accident risk using real-time data and AI analysis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Calcula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tes risk using speed and violation history factors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Detec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ts abnormal driving behaviors (sudden stop, lane drift, etc.)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rovides real-time alerts and risk levels (Low–Critical)</a:t>
            </a:r>
          </a:p>
          <a:p>
            <a:pPr algn="l" marL="567819" indent="-283910" lvl="1">
              <a:lnSpc>
                <a:spcPts val="4181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isplays insights through an interactive dashboard for monitoring</a:t>
            </a:r>
          </a:p>
          <a:p>
            <a:pPr algn="l">
              <a:lnSpc>
                <a:spcPts val="418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839888" y="1950921"/>
            <a:ext cx="13872031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PALIHAKKARA P.I  | IT22337580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637922" y="9757071"/>
            <a:ext cx="14719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-32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38136" y="9757071"/>
            <a:ext cx="182116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-32">
                <a:solidFill>
                  <a:srgbClr val="FFFFFF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05</a:t>
            </a:r>
            <a:r>
              <a:rPr lang="en-US" b="true" sz="2199" spc="-32">
                <a:solidFill>
                  <a:srgbClr val="FFFFFF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/05/2026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261932" y="9795171"/>
            <a:ext cx="6928521" cy="735494"/>
            <a:chOff x="0" y="0"/>
            <a:chExt cx="9238029" cy="980658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24335"/>
              <a:ext cx="2741387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IT22337580   |</a:t>
              </a:r>
            </a:p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090732" y="-38100"/>
              <a:ext cx="3243461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Palihakkara P.I   |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6982886" y="-24335"/>
              <a:ext cx="2255143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32">
                  <a:solidFill>
                    <a:srgbClr val="FFFFFF"/>
                  </a:solidFill>
                  <a:latin typeface="Prompt Semi-Bold"/>
                  <a:ea typeface="Prompt Semi-Bold"/>
                  <a:cs typeface="Prompt Semi-Bold"/>
                  <a:sym typeface="Prompt Semi-Bold"/>
                </a:rPr>
                <a:t>25-26J-330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53999">
            <a:off x="15836680" y="-1996140"/>
            <a:ext cx="4652590" cy="8147265"/>
            <a:chOff x="0" y="0"/>
            <a:chExt cx="1225374" cy="21457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5373" cy="2145782"/>
            </a:xfrm>
            <a:custGeom>
              <a:avLst/>
              <a:gdLst/>
              <a:ahLst/>
              <a:cxnLst/>
              <a:rect r="r" b="b" t="t" l="l"/>
              <a:pathLst>
                <a:path h="2145782" w="1225373">
                  <a:moveTo>
                    <a:pt x="0" y="0"/>
                  </a:moveTo>
                  <a:lnTo>
                    <a:pt x="1225373" y="0"/>
                  </a:lnTo>
                  <a:lnTo>
                    <a:pt x="1225373" y="2145782"/>
                  </a:lnTo>
                  <a:lnTo>
                    <a:pt x="0" y="2145782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25374" cy="220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853999">
            <a:off x="16221139" y="616457"/>
            <a:ext cx="4652590" cy="8147265"/>
            <a:chOff x="0" y="0"/>
            <a:chExt cx="1225374" cy="21457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5373" cy="2145782"/>
            </a:xfrm>
            <a:custGeom>
              <a:avLst/>
              <a:gdLst/>
              <a:ahLst/>
              <a:cxnLst/>
              <a:rect r="r" b="b" t="t" l="l"/>
              <a:pathLst>
                <a:path h="2145782" w="1225373">
                  <a:moveTo>
                    <a:pt x="0" y="0"/>
                  </a:moveTo>
                  <a:lnTo>
                    <a:pt x="1225373" y="0"/>
                  </a:lnTo>
                  <a:lnTo>
                    <a:pt x="1225373" y="2145782"/>
                  </a:lnTo>
                  <a:lnTo>
                    <a:pt x="0" y="2145782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25374" cy="220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1317063"/>
            <a:ext cx="18288000" cy="8969937"/>
            <a:chOff x="0" y="0"/>
            <a:chExt cx="4816593" cy="23624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2362453"/>
            </a:xfrm>
            <a:custGeom>
              <a:avLst/>
              <a:gdLst/>
              <a:ahLst/>
              <a:cxnLst/>
              <a:rect r="r" b="b" t="t" l="l"/>
              <a:pathLst>
                <a:path h="23624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62453"/>
                  </a:lnTo>
                  <a:lnTo>
                    <a:pt x="0" y="236245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16593" cy="2400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3547926">
            <a:off x="10082386" y="8106338"/>
            <a:ext cx="13507857" cy="3562697"/>
          </a:xfrm>
          <a:custGeom>
            <a:avLst/>
            <a:gdLst/>
            <a:ahLst/>
            <a:cxnLst/>
            <a:rect r="r" b="b" t="t" l="l"/>
            <a:pathLst>
              <a:path h="3562697" w="13507857">
                <a:moveTo>
                  <a:pt x="0" y="0"/>
                </a:moveTo>
                <a:lnTo>
                  <a:pt x="13507857" y="0"/>
                </a:lnTo>
                <a:lnTo>
                  <a:pt x="13507857" y="3562698"/>
                </a:lnTo>
                <a:lnTo>
                  <a:pt x="0" y="3562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31221" y="1054945"/>
            <a:ext cx="1228079" cy="524236"/>
          </a:xfrm>
          <a:custGeom>
            <a:avLst/>
            <a:gdLst/>
            <a:ahLst/>
            <a:cxnLst/>
            <a:rect r="r" b="b" t="t" l="l"/>
            <a:pathLst>
              <a:path h="524236" w="1228079">
                <a:moveTo>
                  <a:pt x="0" y="0"/>
                </a:moveTo>
                <a:lnTo>
                  <a:pt x="1228079" y="0"/>
                </a:lnTo>
                <a:lnTo>
                  <a:pt x="1228079" y="524236"/>
                </a:lnTo>
                <a:lnTo>
                  <a:pt x="0" y="524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-1853999">
            <a:off x="-3351549" y="8397275"/>
            <a:ext cx="4652590" cy="4189691"/>
            <a:chOff x="0" y="0"/>
            <a:chExt cx="1225374" cy="1103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5373" cy="1103458"/>
            </a:xfrm>
            <a:custGeom>
              <a:avLst/>
              <a:gdLst/>
              <a:ahLst/>
              <a:cxnLst/>
              <a:rect r="r" b="b" t="t" l="l"/>
              <a:pathLst>
                <a:path h="1103458" w="1225373">
                  <a:moveTo>
                    <a:pt x="0" y="0"/>
                  </a:moveTo>
                  <a:lnTo>
                    <a:pt x="1225373" y="0"/>
                  </a:lnTo>
                  <a:lnTo>
                    <a:pt x="1225373" y="1103458"/>
                  </a:lnTo>
                  <a:lnTo>
                    <a:pt x="0" y="1103458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225374" cy="116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98059" y="913491"/>
            <a:ext cx="1032588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RESULTS &amp;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11116" y="878368"/>
            <a:ext cx="12732203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</a:t>
            </a:r>
            <a:r>
              <a:rPr lang="en-US" sz="6500">
                <a:solidFill>
                  <a:srgbClr val="F4A3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ESTIMONIALS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9742" y="4593790"/>
            <a:ext cx="5573222" cy="185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High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 accuracy (YOLOv8 ~85%+)</a:t>
            </a:r>
          </a:p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Real-time alerts (&lt;2s)</a:t>
            </a:r>
          </a:p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Improved traffic flow</a:t>
            </a:r>
          </a:p>
          <a:p>
            <a:pPr algn="l">
              <a:lnSpc>
                <a:spcPts val="3682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609742" y="3487698"/>
            <a:ext cx="2906189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4A348"/>
                </a:solidFill>
                <a:latin typeface="Raleway Bold"/>
                <a:ea typeface="Raleway Bold"/>
                <a:cs typeface="Raleway Bold"/>
                <a:sym typeface="Raleway Bold"/>
              </a:rPr>
              <a:t> Results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422504" y="534408"/>
            <a:ext cx="2327801" cy="988584"/>
            <a:chOff x="0" y="0"/>
            <a:chExt cx="3103734" cy="13181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7717" y="0"/>
              <a:ext cx="1293398" cy="1318113"/>
            </a:xfrm>
            <a:custGeom>
              <a:avLst/>
              <a:gdLst/>
              <a:ahLst/>
              <a:cxnLst/>
              <a:rect r="r" b="b" t="t" l="l"/>
              <a:pathLst>
                <a:path h="1318113" w="1293398">
                  <a:moveTo>
                    <a:pt x="0" y="0"/>
                  </a:moveTo>
                  <a:lnTo>
                    <a:pt x="1293398" y="0"/>
                  </a:lnTo>
                  <a:lnTo>
                    <a:pt x="1293398" y="1318113"/>
                  </a:lnTo>
                  <a:lnTo>
                    <a:pt x="0" y="131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659056"/>
              <a:ext cx="3103734" cy="61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b="true" sz="2799" spc="-83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ITMS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886122" y="4593790"/>
            <a:ext cx="5573222" cy="185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asy-to-use dashboard</a:t>
            </a:r>
          </a:p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Faster decision-making</a:t>
            </a:r>
          </a:p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Positive safety impact</a:t>
            </a:r>
          </a:p>
          <a:p>
            <a:pPr algn="l">
              <a:lnSpc>
                <a:spcPts val="3682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3487698"/>
            <a:ext cx="6279212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true">
                <a:solidFill>
                  <a:srgbClr val="F4A348"/>
                </a:solidFill>
                <a:latin typeface="Raleway Bold"/>
                <a:ea typeface="Raleway Bold"/>
                <a:cs typeface="Raleway Bold"/>
                <a:sym typeface="Raleway Bold"/>
              </a:rPr>
              <a:t>Us</a:t>
            </a:r>
            <a:r>
              <a:rPr lang="en-US" b="true" sz="5499">
                <a:solidFill>
                  <a:srgbClr val="F4A348"/>
                </a:solidFill>
                <a:latin typeface="Raleway Bold"/>
                <a:ea typeface="Raleway Bold"/>
                <a:cs typeface="Raleway Bold"/>
                <a:sym typeface="Raleway Bold"/>
              </a:rPr>
              <a:t>er Feedback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2514" y="7696224"/>
            <a:ext cx="5573222" cy="139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Depends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 on camera &amp; weather</a:t>
            </a:r>
          </a:p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rototype-level testing</a:t>
            </a:r>
          </a:p>
          <a:p>
            <a:pPr algn="l">
              <a:lnSpc>
                <a:spcPts val="3682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609742" y="6445273"/>
            <a:ext cx="4645077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4A348"/>
                </a:solidFill>
                <a:latin typeface="Raleway Bold"/>
                <a:ea typeface="Raleway Bold"/>
                <a:cs typeface="Raleway Bold"/>
                <a:sym typeface="Raleway Bold"/>
              </a:rPr>
              <a:t> Limitations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0" y="7551365"/>
            <a:ext cx="5573222" cy="185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Real-world deployment</a:t>
            </a:r>
          </a:p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Improve accuracy</a:t>
            </a:r>
          </a:p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B3B3B3"/>
                </a:solidFill>
                <a:latin typeface="Raleway"/>
                <a:ea typeface="Raleway"/>
                <a:cs typeface="Raleway"/>
                <a:sym typeface="Raleway"/>
              </a:rPr>
              <a:t>Add advanced AI features</a:t>
            </a:r>
          </a:p>
          <a:p>
            <a:pPr algn="l">
              <a:lnSpc>
                <a:spcPts val="3682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0" y="6445273"/>
            <a:ext cx="4498424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true">
                <a:solidFill>
                  <a:srgbClr val="F4A348"/>
                </a:solidFill>
                <a:latin typeface="Raleway Bold"/>
                <a:ea typeface="Raleway Bold"/>
                <a:cs typeface="Raleway Bold"/>
                <a:sym typeface="Raleway Bold"/>
              </a:rPr>
              <a:t>F</a:t>
            </a:r>
            <a:r>
              <a:rPr lang="en-US" b="true" sz="5499">
                <a:solidFill>
                  <a:srgbClr val="F4A348"/>
                </a:solidFill>
                <a:latin typeface="Raleway Bold"/>
                <a:ea typeface="Raleway Bold"/>
                <a:cs typeface="Raleway Bold"/>
                <a:sym typeface="Raleway Bold"/>
              </a:rPr>
              <a:t>uture Work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637922" y="9757071"/>
            <a:ext cx="14719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-32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317063"/>
            <a:ext cx="18288000" cy="8969937"/>
            <a:chOff x="0" y="0"/>
            <a:chExt cx="4816593" cy="23624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362453"/>
            </a:xfrm>
            <a:custGeom>
              <a:avLst/>
              <a:gdLst/>
              <a:ahLst/>
              <a:cxnLst/>
              <a:rect r="r" b="b" t="t" l="l"/>
              <a:pathLst>
                <a:path h="23624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62453"/>
                  </a:lnTo>
                  <a:lnTo>
                    <a:pt x="0" y="236245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400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854997">
            <a:off x="8701149" y="4880510"/>
            <a:ext cx="2932584" cy="7772521"/>
            <a:chOff x="0" y="0"/>
            <a:chExt cx="772368" cy="20470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2368" cy="2047084"/>
            </a:xfrm>
            <a:custGeom>
              <a:avLst/>
              <a:gdLst/>
              <a:ahLst/>
              <a:cxnLst/>
              <a:rect r="r" b="b" t="t" l="l"/>
              <a:pathLst>
                <a:path h="2047084" w="772368">
                  <a:moveTo>
                    <a:pt x="0" y="0"/>
                  </a:moveTo>
                  <a:lnTo>
                    <a:pt x="772368" y="0"/>
                  </a:lnTo>
                  <a:lnTo>
                    <a:pt x="772368" y="2047084"/>
                  </a:lnTo>
                  <a:lnTo>
                    <a:pt x="0" y="204708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F4A34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772368" cy="2104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547926">
            <a:off x="4442270" y="3362151"/>
            <a:ext cx="13507857" cy="3562697"/>
          </a:xfrm>
          <a:custGeom>
            <a:avLst/>
            <a:gdLst/>
            <a:ahLst/>
            <a:cxnLst/>
            <a:rect r="r" b="b" t="t" l="l"/>
            <a:pathLst>
              <a:path h="3562697" w="13507857">
                <a:moveTo>
                  <a:pt x="0" y="0"/>
                </a:moveTo>
                <a:lnTo>
                  <a:pt x="13507857" y="0"/>
                </a:lnTo>
                <a:lnTo>
                  <a:pt x="13507857" y="3562698"/>
                </a:lnTo>
                <a:lnTo>
                  <a:pt x="0" y="3562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1854997">
            <a:off x="12503015" y="-1200434"/>
            <a:ext cx="7992722" cy="15285755"/>
            <a:chOff x="0" y="0"/>
            <a:chExt cx="2105079" cy="40258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5079" cy="4025878"/>
            </a:xfrm>
            <a:custGeom>
              <a:avLst/>
              <a:gdLst/>
              <a:ahLst/>
              <a:cxnLst/>
              <a:rect r="r" b="b" t="t" l="l"/>
              <a:pathLst>
                <a:path h="4025878" w="2105079">
                  <a:moveTo>
                    <a:pt x="0" y="0"/>
                  </a:moveTo>
                  <a:lnTo>
                    <a:pt x="2105079" y="0"/>
                  </a:lnTo>
                  <a:lnTo>
                    <a:pt x="2105079" y="4025878"/>
                  </a:lnTo>
                  <a:lnTo>
                    <a:pt x="0" y="4025878"/>
                  </a:lnTo>
                  <a:close/>
                </a:path>
              </a:pathLst>
            </a:custGeom>
            <a:solidFill>
              <a:srgbClr val="F4A34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05079" cy="4083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13902" y="5717128"/>
            <a:ext cx="4288048" cy="961467"/>
            <a:chOff x="0" y="0"/>
            <a:chExt cx="1812505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12505" cy="406400"/>
            </a:xfrm>
            <a:custGeom>
              <a:avLst/>
              <a:gdLst/>
              <a:ahLst/>
              <a:cxnLst/>
              <a:rect r="r" b="b" t="t" l="l"/>
              <a:pathLst>
                <a:path h="406400" w="1812505">
                  <a:moveTo>
                    <a:pt x="1609305" y="0"/>
                  </a:moveTo>
                  <a:cubicBezTo>
                    <a:pt x="1721529" y="0"/>
                    <a:pt x="1812505" y="90976"/>
                    <a:pt x="1812505" y="203200"/>
                  </a:cubicBezTo>
                  <a:cubicBezTo>
                    <a:pt x="1812505" y="315424"/>
                    <a:pt x="1721529" y="406400"/>
                    <a:pt x="160930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A34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81250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133996" y="1288136"/>
            <a:ext cx="1228079" cy="524236"/>
          </a:xfrm>
          <a:custGeom>
            <a:avLst/>
            <a:gdLst/>
            <a:ahLst/>
            <a:cxnLst/>
            <a:rect r="r" b="b" t="t" l="l"/>
            <a:pathLst>
              <a:path h="524236" w="1228079">
                <a:moveTo>
                  <a:pt x="0" y="0"/>
                </a:moveTo>
                <a:lnTo>
                  <a:pt x="1228079" y="0"/>
                </a:lnTo>
                <a:lnTo>
                  <a:pt x="1228079" y="524236"/>
                </a:lnTo>
                <a:lnTo>
                  <a:pt x="0" y="524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13902" y="2381560"/>
            <a:ext cx="9398031" cy="18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07"/>
              </a:lnSpc>
              <a:spcBef>
                <a:spcPct val="0"/>
              </a:spcBef>
            </a:pPr>
            <a:r>
              <a:rPr lang="en-US" sz="10791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THANK YOU</a:t>
            </a:r>
          </a:p>
        </p:txBody>
      </p:sp>
      <p:grpSp>
        <p:nvGrpSpPr>
          <p:cNvPr name="Group 18" id="18"/>
          <p:cNvGrpSpPr/>
          <p:nvPr/>
        </p:nvGrpSpPr>
        <p:grpSpPr>
          <a:xfrm rot="-1853999">
            <a:off x="12826128" y="-3130943"/>
            <a:ext cx="4652590" cy="8147265"/>
            <a:chOff x="0" y="0"/>
            <a:chExt cx="1225374" cy="21457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5373" cy="2145782"/>
            </a:xfrm>
            <a:custGeom>
              <a:avLst/>
              <a:gdLst/>
              <a:ahLst/>
              <a:cxnLst/>
              <a:rect r="r" b="b" t="t" l="l"/>
              <a:pathLst>
                <a:path h="2145782" w="1225373">
                  <a:moveTo>
                    <a:pt x="0" y="0"/>
                  </a:moveTo>
                  <a:lnTo>
                    <a:pt x="1225373" y="0"/>
                  </a:lnTo>
                  <a:lnTo>
                    <a:pt x="1225373" y="2145782"/>
                  </a:lnTo>
                  <a:lnTo>
                    <a:pt x="0" y="2145782"/>
                  </a:lnTo>
                  <a:close/>
                </a:path>
              </a:pathLst>
            </a:custGeom>
            <a:gradFill rotWithShape="true">
              <a:gsLst>
                <a:gs pos="0">
                  <a:srgbClr val="F4A348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225374" cy="220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71312" y="1399506"/>
            <a:ext cx="7487988" cy="748798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45614" t="0" r="-4479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1854997">
            <a:off x="16821708" y="5674595"/>
            <a:ext cx="2932584" cy="6653038"/>
            <a:chOff x="0" y="0"/>
            <a:chExt cx="772368" cy="1752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2368" cy="1752240"/>
            </a:xfrm>
            <a:custGeom>
              <a:avLst/>
              <a:gdLst/>
              <a:ahLst/>
              <a:cxnLst/>
              <a:rect r="r" b="b" t="t" l="l"/>
              <a:pathLst>
                <a:path h="1752240" w="772368">
                  <a:moveTo>
                    <a:pt x="0" y="0"/>
                  </a:moveTo>
                  <a:lnTo>
                    <a:pt x="772368" y="0"/>
                  </a:lnTo>
                  <a:lnTo>
                    <a:pt x="772368" y="1752240"/>
                  </a:lnTo>
                  <a:lnTo>
                    <a:pt x="0" y="175224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72368" cy="1809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751861" y="8387844"/>
            <a:ext cx="437863" cy="433086"/>
          </a:xfrm>
          <a:custGeom>
            <a:avLst/>
            <a:gdLst/>
            <a:ahLst/>
            <a:cxnLst/>
            <a:rect r="r" b="b" t="t" l="l"/>
            <a:pathLst>
              <a:path h="433086" w="437863">
                <a:moveTo>
                  <a:pt x="0" y="0"/>
                </a:moveTo>
                <a:lnTo>
                  <a:pt x="437863" y="0"/>
                </a:lnTo>
                <a:lnTo>
                  <a:pt x="437863" y="433086"/>
                </a:lnTo>
                <a:lnTo>
                  <a:pt x="0" y="4330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-398611" y="534408"/>
            <a:ext cx="2327801" cy="988584"/>
            <a:chOff x="0" y="0"/>
            <a:chExt cx="3103734" cy="13181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7717" y="0"/>
              <a:ext cx="1293398" cy="1318113"/>
            </a:xfrm>
            <a:custGeom>
              <a:avLst/>
              <a:gdLst/>
              <a:ahLst/>
              <a:cxnLst/>
              <a:rect r="r" b="b" t="t" l="l"/>
              <a:pathLst>
                <a:path h="1318113" w="1293398">
                  <a:moveTo>
                    <a:pt x="0" y="0"/>
                  </a:moveTo>
                  <a:lnTo>
                    <a:pt x="1293398" y="0"/>
                  </a:lnTo>
                  <a:lnTo>
                    <a:pt x="1293398" y="1318113"/>
                  </a:lnTo>
                  <a:lnTo>
                    <a:pt x="0" y="131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0" y="659056"/>
              <a:ext cx="3103734" cy="61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b="true" sz="2799" spc="-83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ITMS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13902" y="3781294"/>
            <a:ext cx="7372715" cy="18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07"/>
              </a:lnSpc>
              <a:spcBef>
                <a:spcPct val="0"/>
              </a:spcBef>
            </a:pPr>
            <a:r>
              <a:rPr lang="en-US" sz="10791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FOR YOUR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15920" y="5807234"/>
            <a:ext cx="3514056" cy="70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6"/>
              </a:lnSpc>
              <a:spcBef>
                <a:spcPct val="0"/>
              </a:spcBef>
            </a:pPr>
            <a:r>
              <a:rPr lang="en-US" sz="413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DAHIlKvka3M</dc:identifier>
  <dcterms:modified xsi:type="dcterms:W3CDTF">2011-08-01T06:04:30Z</dcterms:modified>
  <cp:revision>1</cp:revision>
  <dc:title>INTELLIGENT TRAFFIC MANAGEMENT USING FUZZY LOGIC &amp; MACHINE LEARNING</dc:title>
</cp:coreProperties>
</file>